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3891200" cy="21945600"/>
  <p:notesSz cx="7004050" cy="9283700"/>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912">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4"/>
    <a:srgbClr val="0066FF"/>
    <a:srgbClr val="6699FF"/>
    <a:srgbClr val="3399FF"/>
    <a:srgbClr val="640021"/>
    <a:srgbClr val="003A74"/>
    <a:srgbClr val="FFFF66"/>
    <a:srgbClr val="366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A7E8D8-21B5-4FE0-8673-1D5402B18960}" v="1" dt="2022-06-07T08:44:20.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7" autoAdjust="0"/>
    <p:restoredTop sz="94676" autoAdjust="0"/>
  </p:normalViewPr>
  <p:slideViewPr>
    <p:cSldViewPr>
      <p:cViewPr varScale="1">
        <p:scale>
          <a:sx n="25" d="100"/>
          <a:sy n="25" d="100"/>
        </p:scale>
        <p:origin x="744" y="58"/>
      </p:cViewPr>
      <p:guideLst>
        <p:guide orient="horz" pos="6912"/>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ITH REDDY" userId="fd6ac18a3e3d3f06" providerId="LiveId" clId="{1FA7E8D8-21B5-4FE0-8673-1D5402B18960}"/>
    <pc:docChg chg="modSld">
      <pc:chgData name="SAHITH REDDY" userId="fd6ac18a3e3d3f06" providerId="LiveId" clId="{1FA7E8D8-21B5-4FE0-8673-1D5402B18960}" dt="2022-06-07T08:44:20.358" v="0" actId="1076"/>
      <pc:docMkLst>
        <pc:docMk/>
      </pc:docMkLst>
      <pc:sldChg chg="modSp">
        <pc:chgData name="SAHITH REDDY" userId="fd6ac18a3e3d3f06" providerId="LiveId" clId="{1FA7E8D8-21B5-4FE0-8673-1D5402B18960}" dt="2022-06-07T08:44:20.358" v="0" actId="1076"/>
        <pc:sldMkLst>
          <pc:docMk/>
          <pc:sldMk cId="0" sldId="256"/>
        </pc:sldMkLst>
        <pc:spChg chg="mod">
          <ac:chgData name="SAHITH REDDY" userId="fd6ac18a3e3d3f06" providerId="LiveId" clId="{1FA7E8D8-21B5-4FE0-8673-1D5402B18960}" dt="2022-06-07T08:44:20.358" v="0" actId="1076"/>
          <ac:spMkLst>
            <pc:docMk/>
            <pc:sldMk cId="0" sldId="256"/>
            <ac:spMk id="2183" creationId="{00000000-0000-0000-0000-000000000000}"/>
          </ac:spMkLst>
        </pc:spChg>
      </pc:sldChg>
    </pc:docChg>
  </pc:docChgLst>
  <pc:docChgLst>
    <pc:chgData name="D Praveen Kumar Reddy" userId="18dad61958c5eb1c" providerId="LiveId" clId="{5F33385B-2E49-41C6-A59D-AAF36A34D88B}"/>
    <pc:docChg chg="modSld">
      <pc:chgData name="D Praveen Kumar Reddy" userId="18dad61958c5eb1c" providerId="LiveId" clId="{5F33385B-2E49-41C6-A59D-AAF36A34D88B}" dt="2021-06-15T04:27:12.097" v="50" actId="20577"/>
      <pc:docMkLst>
        <pc:docMk/>
      </pc:docMkLst>
      <pc:sldChg chg="modSp mod">
        <pc:chgData name="D Praveen Kumar Reddy" userId="18dad61958c5eb1c" providerId="LiveId" clId="{5F33385B-2E49-41C6-A59D-AAF36A34D88B}" dt="2021-06-15T04:27:12.097" v="50" actId="20577"/>
        <pc:sldMkLst>
          <pc:docMk/>
          <pc:sldMk cId="0" sldId="256"/>
        </pc:sldMkLst>
        <pc:spChg chg="mod">
          <ac:chgData name="D Praveen Kumar Reddy" userId="18dad61958c5eb1c" providerId="LiveId" clId="{5F33385B-2E49-41C6-A59D-AAF36A34D88B}" dt="2021-06-15T04:27:12.097" v="50" actId="20577"/>
          <ac:spMkLst>
            <pc:docMk/>
            <pc:sldMk cId="0" sldId="256"/>
            <ac:spMk id="31" creationId="{E8AC1CBC-7DDF-4928-90B4-B9AE3D2DAF39}"/>
          </ac:spMkLst>
        </pc:spChg>
        <pc:spChg chg="mod">
          <ac:chgData name="D Praveen Kumar Reddy" userId="18dad61958c5eb1c" providerId="LiveId" clId="{5F33385B-2E49-41C6-A59D-AAF36A34D88B}" dt="2021-06-07T15:00:48.782" v="21" actId="20577"/>
          <ac:spMkLst>
            <pc:docMk/>
            <pc:sldMk cId="0" sldId="256"/>
            <ac:spMk id="2241" creationId="{00000000-0000-0000-0000-000000000000}"/>
          </ac:spMkLst>
        </pc:spChg>
        <pc:picChg chg="mod">
          <ac:chgData name="D Praveen Kumar Reddy" userId="18dad61958c5eb1c" providerId="LiveId" clId="{5F33385B-2E49-41C6-A59D-AAF36A34D88B}" dt="2021-06-07T15:09:15.796" v="22" actId="1076"/>
          <ac:picMkLst>
            <pc:docMk/>
            <pc:sldMk cId="0" sldId="256"/>
            <ac:picMk id="29" creationId="{627A42CB-DA78-4C72-9F9C-8F5D489D85E3}"/>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Instructions"/>
          <p:cNvSpPr/>
          <p:nvPr userDrawn="1"/>
        </p:nvSpPr>
        <p:spPr>
          <a:xfrm>
            <a:off x="-7498080" y="0"/>
            <a:ext cx="6949440" cy="21945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6893" tIns="146893" rIns="146893" bIns="146893"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544"/>
              </a:spcAft>
            </a:pPr>
            <a:r>
              <a:rPr lang="en-US" sz="5400" dirty="0">
                <a:solidFill>
                  <a:srgbClr val="7F7F7F"/>
                </a:solidFill>
                <a:latin typeface="Calibri" pitchFamily="34" charset="0"/>
                <a:cs typeface="Calibri" panose="020F0502020204030204" pitchFamily="34" charset="0"/>
              </a:rPr>
              <a:t>Poster Print Size:</a:t>
            </a:r>
            <a:endParaRPr sz="5400" dirty="0">
              <a:solidFill>
                <a:srgbClr val="7F7F7F"/>
              </a:solidFill>
              <a:latin typeface="Calibri" pitchFamily="34" charset="0"/>
              <a:cs typeface="Calibri" panose="020F0502020204030204" pitchFamily="34" charset="0"/>
            </a:endParaRPr>
          </a:p>
          <a:p>
            <a:pPr lvl="0">
              <a:spcBef>
                <a:spcPts val="0"/>
              </a:spcBef>
              <a:spcAft>
                <a:spcPts val="1544"/>
              </a:spcAft>
            </a:pPr>
            <a:r>
              <a:rPr lang="en-US" sz="3200" dirty="0">
                <a:solidFill>
                  <a:srgbClr val="7F7F7F"/>
                </a:solidFill>
                <a:latin typeface="Calibri" pitchFamily="34" charset="0"/>
                <a:cs typeface="Calibri" panose="020F0502020204030204" pitchFamily="34" charset="0"/>
              </a:rPr>
              <a:t>This poster template is 24” high by 48” wide .</a:t>
            </a:r>
            <a:r>
              <a:rPr lang="en-US" sz="3200" baseline="0" dirty="0">
                <a:solidFill>
                  <a:srgbClr val="7F7F7F"/>
                </a:solidFill>
                <a:latin typeface="Calibri" pitchFamily="34" charset="0"/>
                <a:cs typeface="Calibri" panose="020F0502020204030204" pitchFamily="34" charset="0"/>
              </a:rPr>
              <a:t> </a:t>
            </a:r>
            <a:r>
              <a:rPr lang="en-US" sz="3200" dirty="0">
                <a:solidFill>
                  <a:srgbClr val="7F7F7F"/>
                </a:solidFill>
                <a:latin typeface="Calibri" pitchFamily="34" charset="0"/>
                <a:cs typeface="Calibri" panose="020F0502020204030204" pitchFamily="34" charset="0"/>
              </a:rPr>
              <a:t>It can be used to print any poster with a 1:2 aspect ratio including 30x60, 36x72, 42x84, and 48x96. </a:t>
            </a:r>
          </a:p>
          <a:p>
            <a:pPr lvl="0">
              <a:spcBef>
                <a:spcPts val="0"/>
              </a:spcBef>
              <a:spcAft>
                <a:spcPts val="1544"/>
              </a:spcAft>
            </a:pPr>
            <a:r>
              <a:rPr lang="en-US" sz="5400" dirty="0">
                <a:solidFill>
                  <a:srgbClr val="7F7F7F"/>
                </a:solidFill>
                <a:latin typeface="Calibri" pitchFamily="34" charset="0"/>
                <a:cs typeface="Calibri" panose="020F0502020204030204" pitchFamily="34" charset="0"/>
              </a:rPr>
              <a:t>Placeholders</a:t>
            </a:r>
            <a:r>
              <a:rPr sz="5400" dirty="0">
                <a:solidFill>
                  <a:srgbClr val="7F7F7F"/>
                </a:solidFill>
                <a:latin typeface="Calibri" pitchFamily="34" charset="0"/>
                <a:cs typeface="Calibri" panose="020F0502020204030204" pitchFamily="34" charset="0"/>
              </a:rPr>
              <a:t>:</a:t>
            </a:r>
          </a:p>
          <a:p>
            <a:pPr lvl="0">
              <a:spcBef>
                <a:spcPts val="0"/>
              </a:spcBef>
              <a:spcAft>
                <a:spcPts val="1544"/>
              </a:spcAft>
            </a:pPr>
            <a:r>
              <a:rPr sz="3200" dirty="0">
                <a:solidFill>
                  <a:srgbClr val="7F7F7F"/>
                </a:solidFill>
                <a:latin typeface="Calibri" pitchFamily="34" charset="0"/>
                <a:cs typeface="Calibri" panose="020F0502020204030204" pitchFamily="34" charset="0"/>
              </a:rPr>
              <a:t>The </a:t>
            </a:r>
            <a:r>
              <a:rPr lang="en-US" sz="3200" dirty="0">
                <a:solidFill>
                  <a:srgbClr val="7F7F7F"/>
                </a:solidFill>
                <a:latin typeface="Calibri" pitchFamily="34" charset="0"/>
                <a:cs typeface="Calibri" panose="020F0502020204030204" pitchFamily="34" charset="0"/>
              </a:rPr>
              <a:t>various elements included</a:t>
            </a:r>
            <a:r>
              <a:rPr sz="3200" dirty="0">
                <a:solidFill>
                  <a:srgbClr val="7F7F7F"/>
                </a:solidFill>
                <a:latin typeface="Calibri" pitchFamily="34" charset="0"/>
                <a:cs typeface="Calibri" panose="020F0502020204030204" pitchFamily="34" charset="0"/>
              </a:rPr>
              <a:t> in this </a:t>
            </a:r>
            <a:r>
              <a:rPr lang="en-US" sz="3200" dirty="0">
                <a:solidFill>
                  <a:srgbClr val="7F7F7F"/>
                </a:solidFill>
                <a:latin typeface="Calibri" pitchFamily="34" charset="0"/>
                <a:cs typeface="Calibri" panose="020F0502020204030204" pitchFamily="34" charset="0"/>
              </a:rPr>
              <a:t>poster are ones</a:t>
            </a:r>
            <a:r>
              <a:rPr lang="en-US" sz="3200" baseline="0" dirty="0">
                <a:solidFill>
                  <a:srgbClr val="7F7F7F"/>
                </a:solidFill>
                <a:latin typeface="Calibri" pitchFamily="34" charset="0"/>
                <a:cs typeface="Calibri" panose="020F0502020204030204" pitchFamily="34" charset="0"/>
              </a:rPr>
              <a:t> we often see in medical, research, and scientific posters.</a:t>
            </a:r>
            <a:r>
              <a:rPr sz="3200" dirty="0">
                <a:solidFill>
                  <a:srgbClr val="7F7F7F"/>
                </a:solidFill>
                <a:latin typeface="Calibri" pitchFamily="34" charset="0"/>
                <a:cs typeface="Calibri" panose="020F0502020204030204" pitchFamily="34" charset="0"/>
              </a:rPr>
              <a:t> </a:t>
            </a:r>
            <a:r>
              <a:rPr lang="en-US" sz="3200" dirty="0">
                <a:solidFill>
                  <a:srgbClr val="7F7F7F"/>
                </a:solidFill>
                <a:latin typeface="Calibri" pitchFamily="34" charset="0"/>
                <a:cs typeface="Calibri" panose="020F0502020204030204" pitchFamily="34" charset="0"/>
              </a:rPr>
              <a:t>Feel</a:t>
            </a:r>
            <a:r>
              <a:rPr lang="en-US" sz="32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544"/>
              </a:spcAft>
            </a:pPr>
            <a:r>
              <a:rPr lang="en-US" sz="5400" dirty="0">
                <a:solidFill>
                  <a:srgbClr val="7F7F7F"/>
                </a:solidFill>
                <a:latin typeface="Calibri" pitchFamily="34" charset="0"/>
                <a:cs typeface="Calibri" panose="020F0502020204030204" pitchFamily="34" charset="0"/>
              </a:rPr>
              <a:t>Image</a:t>
            </a:r>
            <a:r>
              <a:rPr lang="en-US" sz="5400" baseline="0" dirty="0">
                <a:solidFill>
                  <a:srgbClr val="7F7F7F"/>
                </a:solidFill>
                <a:latin typeface="Calibri" pitchFamily="34" charset="0"/>
                <a:cs typeface="Calibri" panose="020F0502020204030204" pitchFamily="34" charset="0"/>
              </a:rPr>
              <a:t> Quality</a:t>
            </a:r>
            <a:r>
              <a:rPr lang="en-US" sz="5400" dirty="0">
                <a:solidFill>
                  <a:srgbClr val="7F7F7F"/>
                </a:solidFill>
                <a:latin typeface="Calibri" pitchFamily="34" charset="0"/>
                <a:cs typeface="Calibri" panose="020F0502020204030204" pitchFamily="34" charset="0"/>
              </a:rPr>
              <a:t>:</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You can place digital photos or logo art in your poster file by selecting the </a:t>
            </a:r>
            <a:r>
              <a:rPr lang="en-US" sz="3200" b="1" dirty="0">
                <a:solidFill>
                  <a:srgbClr val="7F7F7F"/>
                </a:solidFill>
                <a:latin typeface="Calibri" pitchFamily="34" charset="0"/>
                <a:cs typeface="Calibri" panose="020F0502020204030204" pitchFamily="34" charset="0"/>
              </a:rPr>
              <a:t>Insert, Picture</a:t>
            </a:r>
            <a:r>
              <a:rPr lang="en-US" sz="32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3200" b="1" dirty="0">
                <a:solidFill>
                  <a:srgbClr val="7F7F7F"/>
                </a:solidFill>
                <a:latin typeface="Calibri" pitchFamily="34" charset="0"/>
                <a:cs typeface="Calibri" panose="020F0502020204030204" pitchFamily="34" charset="0"/>
              </a:rPr>
              <a:t>150-200 pixels per inch in their final printed size</a:t>
            </a:r>
            <a:r>
              <a:rPr lang="en-US" sz="3200" dirty="0">
                <a:solidFill>
                  <a:srgbClr val="7F7F7F"/>
                </a:solidFill>
                <a:latin typeface="Calibri" pitchFamily="34" charset="0"/>
                <a:cs typeface="Calibri" panose="020F0502020204030204" pitchFamily="34" charset="0"/>
              </a:rPr>
              <a:t>. For instance, a 1600 x 1200 pixel</a:t>
            </a:r>
            <a:r>
              <a:rPr lang="en-US" sz="3200" baseline="0" dirty="0">
                <a:solidFill>
                  <a:srgbClr val="7F7F7F"/>
                </a:solidFill>
                <a:latin typeface="Calibri" pitchFamily="34" charset="0"/>
                <a:cs typeface="Calibri" panose="020F0502020204030204" pitchFamily="34" charset="0"/>
              </a:rPr>
              <a:t> photo will usually look fine up to </a:t>
            </a:r>
            <a:r>
              <a:rPr lang="en-US" sz="3200" dirty="0">
                <a:solidFill>
                  <a:srgbClr val="7F7F7F"/>
                </a:solidFill>
                <a:latin typeface="Calibri" pitchFamily="34" charset="0"/>
                <a:cs typeface="Calibri" panose="020F0502020204030204" pitchFamily="34" charset="0"/>
              </a:rPr>
              <a:t>8“-10” wide on your printed poster.</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544"/>
              </a:spcAft>
            </a:pPr>
            <a:br>
              <a:rPr lang="en-US" sz="2800" dirty="0">
                <a:solidFill>
                  <a:srgbClr val="7F7F7F"/>
                </a:solidFill>
                <a:latin typeface="Calibri" pitchFamily="34" charset="0"/>
                <a:cs typeface="Calibri" panose="020F0502020204030204" pitchFamily="34" charset="0"/>
              </a:rPr>
            </a:br>
            <a:r>
              <a:rPr lang="en-US" sz="2800" dirty="0">
                <a:solidFill>
                  <a:srgbClr val="7F7F7F"/>
                </a:solidFill>
                <a:latin typeface="Calibri" pitchFamily="34" charset="0"/>
                <a:cs typeface="Calibri" panose="020F0502020204030204" pitchFamily="34" charset="0"/>
              </a:rPr>
              <a:t>[This sidebar area does not print.]</a:t>
            </a:r>
          </a:p>
        </p:txBody>
      </p:sp>
      <p:grpSp>
        <p:nvGrpSpPr>
          <p:cNvPr id="5" name="Group 4"/>
          <p:cNvGrpSpPr/>
          <p:nvPr userDrawn="1"/>
        </p:nvGrpSpPr>
        <p:grpSpPr>
          <a:xfrm>
            <a:off x="44439840" y="0"/>
            <a:ext cx="6949440" cy="21945600"/>
            <a:chOff x="33832800" y="0"/>
            <a:chExt cx="12801600" cy="43891200"/>
          </a:xfrm>
        </p:grpSpPr>
        <p:sp>
          <p:nvSpPr>
            <p:cNvPr id="6"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544"/>
                </a:spcAft>
              </a:pPr>
              <a:r>
                <a:rPr lang="en-US" sz="5400" dirty="0">
                  <a:solidFill>
                    <a:schemeClr val="bg1">
                      <a:lumMod val="50000"/>
                    </a:schemeClr>
                  </a:solidFill>
                  <a:latin typeface="Calibri" pitchFamily="34" charset="0"/>
                  <a:cs typeface="Calibri" panose="020F0502020204030204" pitchFamily="34" charset="0"/>
                </a:rPr>
                <a:t>Change</a:t>
              </a:r>
              <a:r>
                <a:rPr lang="en-US" sz="5400" baseline="0" dirty="0">
                  <a:solidFill>
                    <a:schemeClr val="bg1">
                      <a:lumMod val="50000"/>
                    </a:schemeClr>
                  </a:solidFill>
                  <a:latin typeface="Calibri" pitchFamily="34" charset="0"/>
                  <a:cs typeface="Calibri" panose="020F0502020204030204" pitchFamily="34" charset="0"/>
                </a:rPr>
                <a:t> Color Theme</a:t>
              </a:r>
              <a:r>
                <a:rPr lang="en-US" sz="5400" dirty="0">
                  <a:solidFill>
                    <a:schemeClr val="bg1">
                      <a:lumMod val="50000"/>
                    </a:schemeClr>
                  </a:solidFill>
                  <a:latin typeface="Calibri" pitchFamily="34" charset="0"/>
                  <a:cs typeface="Calibri" panose="020F0502020204030204" pitchFamily="34" charset="0"/>
                </a:rPr>
                <a:t>:</a:t>
              </a:r>
              <a:endParaRPr sz="540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r>
                <a:rPr lang="en-US" sz="32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32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To change the color theme, select the </a:t>
              </a:r>
              <a:r>
                <a:rPr lang="en-US" sz="3200" b="1" baseline="0" dirty="0">
                  <a:solidFill>
                    <a:schemeClr val="bg1">
                      <a:lumMod val="50000"/>
                    </a:schemeClr>
                  </a:solidFill>
                  <a:latin typeface="Calibri" pitchFamily="34" charset="0"/>
                  <a:cs typeface="Calibri" panose="020F0502020204030204" pitchFamily="34" charset="0"/>
                </a:rPr>
                <a:t>Design</a:t>
              </a:r>
              <a:r>
                <a:rPr lang="en-US" sz="3200" baseline="0" dirty="0">
                  <a:solidFill>
                    <a:schemeClr val="bg1">
                      <a:lumMod val="50000"/>
                    </a:schemeClr>
                  </a:solidFill>
                  <a:latin typeface="Calibri" pitchFamily="34" charset="0"/>
                  <a:cs typeface="Calibri" panose="020F0502020204030204" pitchFamily="34" charset="0"/>
                </a:rPr>
                <a:t> tab, then select the </a:t>
              </a:r>
              <a:r>
                <a:rPr lang="en-US" sz="3200" b="1" baseline="0" dirty="0">
                  <a:solidFill>
                    <a:schemeClr val="bg1">
                      <a:lumMod val="50000"/>
                    </a:schemeClr>
                  </a:solidFill>
                  <a:latin typeface="Calibri" pitchFamily="34" charset="0"/>
                  <a:cs typeface="Calibri" panose="020F0502020204030204" pitchFamily="34" charset="0"/>
                </a:rPr>
                <a:t>Colors</a:t>
              </a:r>
              <a:r>
                <a:rPr lang="en-US" sz="32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544"/>
                </a:spcAft>
              </a:pPr>
              <a:r>
                <a:rPr lang="en-US" sz="54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544"/>
                </a:spcAft>
              </a:pPr>
              <a:r>
                <a:rPr lang="en-US" sz="3200" dirty="0">
                  <a:solidFill>
                    <a:schemeClr val="bg1">
                      <a:lumMod val="50000"/>
                    </a:schemeClr>
                  </a:solidFill>
                  <a:latin typeface="Calibri" pitchFamily="34" charset="0"/>
                  <a:cs typeface="Calibri" panose="020F0502020204030204" pitchFamily="34" charset="0"/>
                </a:rPr>
                <a:t>Once your poster file is ready, visit</a:t>
              </a:r>
              <a:r>
                <a:rPr lang="en-US" sz="3200" baseline="0" dirty="0">
                  <a:solidFill>
                    <a:schemeClr val="bg1">
                      <a:lumMod val="50000"/>
                    </a:schemeClr>
                  </a:solidFill>
                  <a:latin typeface="Calibri" pitchFamily="34" charset="0"/>
                  <a:cs typeface="Calibri" panose="020F0502020204030204" pitchFamily="34" charset="0"/>
                </a:rPr>
                <a:t> </a:t>
              </a:r>
              <a:r>
                <a:rPr lang="en-US" sz="3200" b="1" baseline="0" dirty="0">
                  <a:solidFill>
                    <a:schemeClr val="bg1">
                      <a:lumMod val="50000"/>
                    </a:schemeClr>
                  </a:solidFill>
                  <a:latin typeface="Calibri" pitchFamily="34" charset="0"/>
                  <a:cs typeface="Calibri" panose="020F0502020204030204" pitchFamily="34" charset="0"/>
                </a:rPr>
                <a:t>www.genigraphics.com</a:t>
              </a:r>
              <a:r>
                <a:rPr lang="en-US" sz="32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32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3200" baseline="0" dirty="0">
                  <a:solidFill>
                    <a:schemeClr val="bg1">
                      <a:lumMod val="50000"/>
                    </a:schemeClr>
                  </a:solidFill>
                  <a:latin typeface="Calibri" pitchFamily="34" charset="0"/>
                  <a:cs typeface="Calibri" panose="020F0502020204030204" pitchFamily="34" charset="0"/>
                </a:rPr>
                <a:t>US and Canada:  1-800-790-4001</a:t>
              </a:r>
              <a:br>
                <a:rPr lang="en-US" sz="3200" baseline="0" dirty="0">
                  <a:solidFill>
                    <a:schemeClr val="bg1">
                      <a:lumMod val="50000"/>
                    </a:schemeClr>
                  </a:solidFill>
                  <a:latin typeface="Calibri" pitchFamily="34" charset="0"/>
                  <a:cs typeface="Calibri" panose="020F0502020204030204" pitchFamily="34" charset="0"/>
                </a:rPr>
              </a:br>
              <a:r>
                <a:rPr lang="en-US" sz="32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2800" dirty="0">
                  <a:solidFill>
                    <a:schemeClr val="bg1">
                      <a:lumMod val="50000"/>
                    </a:schemeClr>
                  </a:solidFill>
                  <a:latin typeface="Calibri" pitchFamily="34" charset="0"/>
                  <a:cs typeface="Calibri" panose="020F0502020204030204" pitchFamily="34" charset="0"/>
                </a:rPr>
              </a:br>
              <a:r>
                <a:rPr lang="en-US" sz="2800" dirty="0">
                  <a:solidFill>
                    <a:schemeClr val="bg1">
                      <a:lumMod val="50000"/>
                    </a:schemeClr>
                  </a:solidFill>
                  <a:latin typeface="Calibri" pitchFamily="34" charset="0"/>
                  <a:cs typeface="Calibri" panose="020F0502020204030204" pitchFamily="34" charset="0"/>
                </a:rPr>
                <a:t>[This sidebar area does not print.]</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107874"/>
              <a:ext cx="11904515" cy="10246926"/>
            </a:xfrm>
            <a:prstGeom prst="rect">
              <a:avLst/>
            </a:prstGeom>
          </p:spPr>
        </p:pic>
      </p:grpSp>
    </p:spTree>
    <p:extLst>
      <p:ext uri="{BB962C8B-B14F-4D97-AF65-F5344CB8AC3E}">
        <p14:creationId xmlns:p14="http://schemas.microsoft.com/office/powerpoint/2010/main" val="1804847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3656013"/>
            <a:ext cx="7313613" cy="18281650"/>
          </a:xfrm>
          <a:prstGeom prst="rect">
            <a:avLst/>
          </a:prstGeom>
          <a:solidFill>
            <a:schemeClr val="accent1">
              <a:lumMod val="75000"/>
            </a:schemeClr>
          </a:solidFill>
          <a:ln>
            <a:noFill/>
          </a:ln>
          <a:effectLst/>
        </p:spPr>
        <p:txBody>
          <a:bodyPr wrap="none" lIns="457200" tIns="228600" rIns="457200" bIns="457200"/>
          <a:lstStyle/>
          <a:p>
            <a:pPr algn="ctr" defTabSz="4389438"/>
            <a:endParaRPr lang="en-US" sz="4800" dirty="0">
              <a:latin typeface="Calibri" pitchFamily="34" charset="0"/>
            </a:endParaRPr>
          </a:p>
        </p:txBody>
      </p:sp>
      <p:sp>
        <p:nvSpPr>
          <p:cNvPr id="1032" name="Rectangle 8"/>
          <p:cNvSpPr>
            <a:spLocks noChangeArrowheads="1"/>
          </p:cNvSpPr>
          <p:nvPr userDrawn="1"/>
        </p:nvSpPr>
        <p:spPr bwMode="auto">
          <a:xfrm>
            <a:off x="7312025" y="0"/>
            <a:ext cx="36564888" cy="3656013"/>
          </a:xfrm>
          <a:prstGeom prst="rect">
            <a:avLst/>
          </a:prstGeom>
          <a:solidFill>
            <a:schemeClr val="accent1">
              <a:lumMod val="75000"/>
            </a:schemeClr>
          </a:solidFill>
          <a:ln>
            <a:noFill/>
          </a:ln>
          <a:effectLst/>
        </p:spPr>
        <p:txBody>
          <a:bodyPr wrap="none" lIns="457200" tIns="457200" rIns="457200" bIns="457200"/>
          <a:lstStyle/>
          <a:p>
            <a:endParaRPr lang="en-US" dirty="0">
              <a:latin typeface="Calibri" pitchFamily="34" charset="0"/>
            </a:endParaRPr>
          </a:p>
        </p:txBody>
      </p:sp>
      <p:sp>
        <p:nvSpPr>
          <p:cNvPr id="1033" name="Rectangle 9"/>
          <p:cNvSpPr>
            <a:spLocks noChangeArrowheads="1"/>
          </p:cNvSpPr>
          <p:nvPr userDrawn="1"/>
        </p:nvSpPr>
        <p:spPr bwMode="auto">
          <a:xfrm>
            <a:off x="7312025" y="3656013"/>
            <a:ext cx="36564888" cy="18281650"/>
          </a:xfrm>
          <a:prstGeom prst="rect">
            <a:avLst/>
          </a:prstGeom>
          <a:solidFill>
            <a:schemeClr val="bg2"/>
          </a:solidFill>
          <a:ln>
            <a:noFill/>
          </a:ln>
          <a:effectLst/>
        </p:spPr>
        <p:txBody>
          <a:bodyPr wrap="none" lIns="457200" tIns="457200" rIns="457200" bIns="457200"/>
          <a:lstStyle/>
          <a:p>
            <a:endParaRPr lang="en-US" dirty="0">
              <a:latin typeface="Calibri" pitchFamily="34" charset="0"/>
            </a:endParaRPr>
          </a:p>
        </p:txBody>
      </p:sp>
      <p:sp>
        <p:nvSpPr>
          <p:cNvPr id="1035" name="Line 11"/>
          <p:cNvSpPr>
            <a:spLocks noChangeShapeType="1"/>
          </p:cNvSpPr>
          <p:nvPr userDrawn="1"/>
        </p:nvSpPr>
        <p:spPr bwMode="auto">
          <a:xfrm>
            <a:off x="7312025" y="0"/>
            <a:ext cx="0" cy="2193925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sp>
        <p:nvSpPr>
          <p:cNvPr id="1036" name="Line 12"/>
          <p:cNvSpPr>
            <a:spLocks noChangeShapeType="1"/>
          </p:cNvSpPr>
          <p:nvPr userDrawn="1"/>
        </p:nvSpPr>
        <p:spPr bwMode="auto">
          <a:xfrm>
            <a:off x="0" y="3657600"/>
            <a:ext cx="43876913"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404800" y="21640800"/>
            <a:ext cx="5297435" cy="1859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Arial" charset="0"/>
        </a:defRPr>
      </a:lvl2pPr>
      <a:lvl3pPr algn="ctr" defTabSz="4389438" rtl="0" fontAlgn="base">
        <a:spcBef>
          <a:spcPct val="0"/>
        </a:spcBef>
        <a:spcAft>
          <a:spcPct val="0"/>
        </a:spcAft>
        <a:defRPr sz="21100">
          <a:solidFill>
            <a:schemeClr val="tx2"/>
          </a:solidFill>
          <a:latin typeface="Arial" charset="0"/>
        </a:defRPr>
      </a:lvl3pPr>
      <a:lvl4pPr algn="ctr" defTabSz="4389438" rtl="0" fontAlgn="base">
        <a:spcBef>
          <a:spcPct val="0"/>
        </a:spcBef>
        <a:spcAft>
          <a:spcPct val="0"/>
        </a:spcAft>
        <a:defRPr sz="21100">
          <a:solidFill>
            <a:schemeClr val="tx2"/>
          </a:solidFill>
          <a:latin typeface="Arial" charset="0"/>
        </a:defRPr>
      </a:lvl4pPr>
      <a:lvl5pPr algn="ctr" defTabSz="4389438" rtl="0" fontAlgn="base">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 name="Text Box 122"/>
          <p:cNvSpPr txBox="1">
            <a:spLocks noChangeArrowheads="1"/>
          </p:cNvSpPr>
          <p:nvPr/>
        </p:nvSpPr>
        <p:spPr bwMode="auto">
          <a:xfrm>
            <a:off x="7312025" y="0"/>
            <a:ext cx="3656488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6600" b="1" dirty="0">
                <a:solidFill>
                  <a:schemeClr val="bg1"/>
                </a:solidFill>
                <a:latin typeface="Verdana" panose="020B0604030504040204" pitchFamily="34" charset="0"/>
                <a:ea typeface="Verdana" panose="020B0604030504040204" pitchFamily="34" charset="0"/>
              </a:rPr>
              <a:t>HUMAN VOICE EMOTION RECOGNITION USING MULTILAYER PERCEPTRON</a:t>
            </a:r>
          </a:p>
        </p:txBody>
      </p:sp>
      <p:sp>
        <p:nvSpPr>
          <p:cNvPr id="2171" name="Text Box 123"/>
          <p:cNvSpPr txBox="1">
            <a:spLocks noChangeArrowheads="1"/>
          </p:cNvSpPr>
          <p:nvPr/>
        </p:nvSpPr>
        <p:spPr bwMode="auto">
          <a:xfrm>
            <a:off x="7326312" y="1828800"/>
            <a:ext cx="3656488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Department of Computer Science &amp; Engineering                        </a:t>
            </a:r>
          </a:p>
          <a:p>
            <a:pPr algn="ctr"/>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 School of Computing               </a:t>
            </a:r>
          </a:p>
          <a:p>
            <a:pPr algn="ctr"/>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 1156CS701 – MAJOR PROJECT                    </a:t>
            </a:r>
          </a:p>
          <a:p>
            <a:pPr algn="ctr"/>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 WINTER SEMESTER 21-22</a:t>
            </a:r>
          </a:p>
        </p:txBody>
      </p:sp>
      <p:sp>
        <p:nvSpPr>
          <p:cNvPr id="2178" name="Text Box 130"/>
          <p:cNvSpPr txBox="1">
            <a:spLocks noChangeArrowheads="1"/>
          </p:cNvSpPr>
          <p:nvPr/>
        </p:nvSpPr>
        <p:spPr bwMode="auto">
          <a:xfrm>
            <a:off x="8229600" y="365601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INTRODUCTION</a:t>
            </a:r>
          </a:p>
        </p:txBody>
      </p:sp>
      <p:sp>
        <p:nvSpPr>
          <p:cNvPr id="2179" name="Text Box 131"/>
          <p:cNvSpPr txBox="1">
            <a:spLocks noChangeArrowheads="1"/>
          </p:cNvSpPr>
          <p:nvPr/>
        </p:nvSpPr>
        <p:spPr bwMode="auto">
          <a:xfrm>
            <a:off x="7737680" y="12984619"/>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METHODOLOGIES</a:t>
            </a:r>
          </a:p>
        </p:txBody>
      </p:sp>
      <p:sp>
        <p:nvSpPr>
          <p:cNvPr id="2181" name="Text Box 133"/>
          <p:cNvSpPr txBox="1">
            <a:spLocks noChangeArrowheads="1"/>
          </p:cNvSpPr>
          <p:nvPr/>
        </p:nvSpPr>
        <p:spPr bwMode="auto">
          <a:xfrm>
            <a:off x="32004000" y="13873877"/>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2800" b="1" dirty="0">
                <a:latin typeface="Times New Roman" panose="02020603050405020304" pitchFamily="18" charset="0"/>
                <a:cs typeface="Times New Roman" panose="02020603050405020304" pitchFamily="18" charset="0"/>
              </a:rPr>
              <a:t>CONCLUSIONS</a:t>
            </a:r>
          </a:p>
        </p:txBody>
      </p:sp>
      <p:sp>
        <p:nvSpPr>
          <p:cNvPr id="2182" name="Text Box 134"/>
          <p:cNvSpPr txBox="1">
            <a:spLocks noChangeArrowheads="1"/>
          </p:cNvSpPr>
          <p:nvPr/>
        </p:nvSpPr>
        <p:spPr bwMode="auto">
          <a:xfrm>
            <a:off x="31890134" y="3498302"/>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anose="020F0502020204030204" pitchFamily="34" charset="0"/>
                <a:cs typeface="Calibri" panose="020F0502020204030204" pitchFamily="34" charset="0"/>
              </a:rPr>
              <a:t>STANDARDS</a:t>
            </a:r>
            <a:r>
              <a:rPr lang="en-US" sz="4000" b="1" dirty="0">
                <a:latin typeface="Calibri" panose="020F0502020204030204" pitchFamily="34" charset="0"/>
                <a:ea typeface="Verdana" panose="020B0604030504040204" pitchFamily="34" charset="0"/>
                <a:cs typeface="Calibri" panose="020F0502020204030204" pitchFamily="34" charset="0"/>
              </a:rPr>
              <a:t> AND POLICIES</a:t>
            </a:r>
          </a:p>
        </p:txBody>
      </p:sp>
      <p:sp>
        <p:nvSpPr>
          <p:cNvPr id="2183" name="Text Box 135"/>
          <p:cNvSpPr txBox="1">
            <a:spLocks noChangeArrowheads="1"/>
          </p:cNvSpPr>
          <p:nvPr/>
        </p:nvSpPr>
        <p:spPr bwMode="auto">
          <a:xfrm>
            <a:off x="20116800" y="365601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RESULTS</a:t>
            </a:r>
          </a:p>
        </p:txBody>
      </p:sp>
      <p:sp>
        <p:nvSpPr>
          <p:cNvPr id="2184" name="Text Box 136"/>
          <p:cNvSpPr txBox="1">
            <a:spLocks noChangeArrowheads="1"/>
          </p:cNvSpPr>
          <p:nvPr/>
        </p:nvSpPr>
        <p:spPr bwMode="auto">
          <a:xfrm>
            <a:off x="32004000" y="1756374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solidFill>
                  <a:schemeClr val="accent1">
                    <a:lumMod val="50000"/>
                  </a:schemeClr>
                </a:solidFill>
                <a:latin typeface="Calibri" pitchFamily="34" charset="0"/>
              </a:rPr>
              <a:t>ACKNOWLEDGEMENT</a:t>
            </a:r>
          </a:p>
        </p:txBody>
      </p:sp>
      <p:sp>
        <p:nvSpPr>
          <p:cNvPr id="2228" name="Text Box 180"/>
          <p:cNvSpPr txBox="1">
            <a:spLocks noChangeArrowheads="1"/>
          </p:cNvSpPr>
          <p:nvPr/>
        </p:nvSpPr>
        <p:spPr bwMode="auto">
          <a:xfrm>
            <a:off x="31874894" y="12842924"/>
            <a:ext cx="46682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2800" b="1" dirty="0">
                <a:solidFill>
                  <a:schemeClr val="accent1">
                    <a:lumMod val="50000"/>
                  </a:schemeClr>
                </a:solidFill>
                <a:latin typeface="Times New Roman" panose="02020603050405020304" pitchFamily="18" charset="0"/>
                <a:cs typeface="Times New Roman" panose="02020603050405020304" pitchFamily="18" charset="0"/>
              </a:rPr>
              <a:t>Figure -2: Data flow diagram</a:t>
            </a:r>
            <a:endParaRPr lang="en-US" sz="28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229" name="Text Box 181"/>
          <p:cNvSpPr txBox="1">
            <a:spLocks noChangeArrowheads="1"/>
          </p:cNvSpPr>
          <p:nvPr/>
        </p:nvSpPr>
        <p:spPr bwMode="auto">
          <a:xfrm>
            <a:off x="38148148" y="12842924"/>
            <a:ext cx="44966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2800" b="1" dirty="0">
                <a:solidFill>
                  <a:schemeClr val="accent1">
                    <a:lumMod val="50000"/>
                  </a:schemeClr>
                </a:solidFill>
                <a:latin typeface="Times New Roman" panose="02020603050405020304" pitchFamily="18" charset="0"/>
                <a:cs typeface="Times New Roman" panose="02020603050405020304" pitchFamily="18" charset="0"/>
              </a:rPr>
              <a:t>Figure 3:Sequence diagram</a:t>
            </a:r>
            <a:r>
              <a:rPr lang="en-US" sz="2800" dirty="0">
                <a:solidFill>
                  <a:schemeClr val="accent1">
                    <a:lumMod val="50000"/>
                  </a:schemeClr>
                </a:solidFill>
                <a:latin typeface="Times New Roman" panose="02020603050405020304" pitchFamily="18" charset="0"/>
                <a:cs typeface="Times New Roman" panose="02020603050405020304" pitchFamily="18" charset="0"/>
              </a:rPr>
              <a:t>.</a:t>
            </a:r>
          </a:p>
        </p:txBody>
      </p:sp>
      <p:sp>
        <p:nvSpPr>
          <p:cNvPr id="2230" name="Text Box 182"/>
          <p:cNvSpPr txBox="1">
            <a:spLocks noChangeArrowheads="1"/>
          </p:cNvSpPr>
          <p:nvPr/>
        </p:nvSpPr>
        <p:spPr bwMode="auto">
          <a:xfrm>
            <a:off x="685800" y="3656013"/>
            <a:ext cx="594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dirty="0">
                <a:solidFill>
                  <a:schemeClr val="bg1"/>
                </a:solidFill>
                <a:latin typeface="Calibri" pitchFamily="34" charset="0"/>
              </a:rPr>
              <a:t>ABSTRACT</a:t>
            </a:r>
          </a:p>
        </p:txBody>
      </p:sp>
      <p:sp>
        <p:nvSpPr>
          <p:cNvPr id="2231" name="Text Box 183"/>
          <p:cNvSpPr txBox="1">
            <a:spLocks noChangeArrowheads="1"/>
          </p:cNvSpPr>
          <p:nvPr/>
        </p:nvSpPr>
        <p:spPr bwMode="auto">
          <a:xfrm>
            <a:off x="388939" y="16080938"/>
            <a:ext cx="594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dirty="0">
                <a:solidFill>
                  <a:schemeClr val="bg1"/>
                </a:solidFill>
                <a:latin typeface="Calibri" pitchFamily="34" charset="0"/>
              </a:rPr>
              <a:t>TEAM MEMBER DETAILS</a:t>
            </a:r>
          </a:p>
        </p:txBody>
      </p:sp>
      <p:sp>
        <p:nvSpPr>
          <p:cNvPr id="2241" name="Text Box 193"/>
          <p:cNvSpPr txBox="1">
            <a:spLocks noChangeArrowheads="1"/>
          </p:cNvSpPr>
          <p:nvPr/>
        </p:nvSpPr>
        <p:spPr bwMode="auto">
          <a:xfrm>
            <a:off x="388939" y="16995338"/>
            <a:ext cx="6700624" cy="4893647"/>
          </a:xfrm>
          <a:prstGeom prst="rect">
            <a:avLst/>
          </a:prstGeom>
          <a:solidFill>
            <a:schemeClr val="accent1">
              <a:lumMod val="75000"/>
            </a:schemeClr>
          </a:solidFill>
          <a:ln>
            <a:noFill/>
          </a:ln>
          <a:effectLst/>
        </p:spPr>
        <p:txBody>
          <a:bodyPr wrap="square" lIns="228600" tIns="228600" rIns="228600" bIns="228600">
            <a:spAutoFit/>
          </a:bodyPr>
          <a:lstStyle/>
          <a:p>
            <a:pPr algn="just"/>
            <a:r>
              <a:rPr lang="en-US" sz="3200" dirty="0">
                <a:solidFill>
                  <a:schemeClr val="bg1"/>
                </a:solidFill>
                <a:latin typeface="Calibri" pitchFamily="34" charset="0"/>
              </a:rPr>
              <a:t>VTU12241/M SAHITH REDDY</a:t>
            </a:r>
          </a:p>
          <a:p>
            <a:pPr algn="just"/>
            <a:r>
              <a:rPr lang="en-US" sz="3200" dirty="0">
                <a:solidFill>
                  <a:schemeClr val="bg1"/>
                </a:solidFill>
                <a:latin typeface="Calibri" pitchFamily="34" charset="0"/>
              </a:rPr>
              <a:t>VTU14141/CH BHARGAVI</a:t>
            </a:r>
          </a:p>
          <a:p>
            <a:pPr algn="just"/>
            <a:r>
              <a:rPr lang="en-US" sz="3200" dirty="0">
                <a:solidFill>
                  <a:schemeClr val="bg1"/>
                </a:solidFill>
                <a:latin typeface="Calibri" pitchFamily="34" charset="0"/>
              </a:rPr>
              <a:t>VTU14145/G SWETHA REDDY</a:t>
            </a:r>
          </a:p>
          <a:p>
            <a:pPr algn="just"/>
            <a:r>
              <a:rPr lang="en-US" sz="3200" dirty="0">
                <a:solidFill>
                  <a:schemeClr val="bg1"/>
                </a:solidFill>
                <a:latin typeface="Calibri" pitchFamily="34" charset="0"/>
              </a:rPr>
              <a:t>Phone No:9849721451</a:t>
            </a:r>
          </a:p>
          <a:p>
            <a:pPr algn="just"/>
            <a:r>
              <a:rPr lang="en-US" sz="3200" dirty="0">
                <a:solidFill>
                  <a:schemeClr val="bg1"/>
                </a:solidFill>
                <a:latin typeface="Calibri" pitchFamily="34" charset="0"/>
              </a:rPr>
              <a:t>Phone No:6380259946</a:t>
            </a:r>
          </a:p>
          <a:p>
            <a:pPr algn="just"/>
            <a:r>
              <a:rPr lang="en-US" sz="3200" dirty="0">
                <a:solidFill>
                  <a:schemeClr val="bg1"/>
                </a:solidFill>
                <a:latin typeface="Calibri" pitchFamily="34" charset="0"/>
              </a:rPr>
              <a:t>Phone No:6309243350</a:t>
            </a:r>
          </a:p>
          <a:p>
            <a:pPr algn="just"/>
            <a:r>
              <a:rPr lang="en-US" sz="3200" dirty="0">
                <a:solidFill>
                  <a:schemeClr val="bg1"/>
                </a:solidFill>
                <a:latin typeface="Calibri" pitchFamily="34" charset="0"/>
              </a:rPr>
              <a:t>Mail ID:Vtu12241@veltech.edu.in</a:t>
            </a:r>
          </a:p>
          <a:p>
            <a:pPr algn="just"/>
            <a:r>
              <a:rPr lang="en-US" sz="3200" dirty="0">
                <a:solidFill>
                  <a:schemeClr val="bg1"/>
                </a:solidFill>
                <a:latin typeface="Calibri" pitchFamily="34" charset="0"/>
              </a:rPr>
              <a:t>Mail ID:Vtu14141@veltech.edu.in</a:t>
            </a:r>
          </a:p>
          <a:p>
            <a:pPr algn="just"/>
            <a:r>
              <a:rPr lang="en-US" sz="3200" dirty="0">
                <a:solidFill>
                  <a:schemeClr val="bg1"/>
                </a:solidFill>
                <a:latin typeface="Calibri" pitchFamily="34" charset="0"/>
              </a:rPr>
              <a:t>Mail ID:Vtu14145@veltech.edu.in</a:t>
            </a:r>
          </a:p>
        </p:txBody>
      </p:sp>
      <p:sp>
        <p:nvSpPr>
          <p:cNvPr id="2242" name="Text Box 194"/>
          <p:cNvSpPr txBox="1">
            <a:spLocks noChangeArrowheads="1"/>
          </p:cNvSpPr>
          <p:nvPr/>
        </p:nvSpPr>
        <p:spPr bwMode="auto">
          <a:xfrm>
            <a:off x="685799" y="4570413"/>
            <a:ext cx="6173683" cy="9941183"/>
          </a:xfrm>
          <a:prstGeom prst="rect">
            <a:avLst/>
          </a:prstGeom>
          <a:solidFill>
            <a:schemeClr val="accent1">
              <a:lumMod val="75000"/>
            </a:schemeClr>
          </a:solidFill>
          <a:ln>
            <a:noFill/>
          </a:ln>
          <a:effectLst/>
        </p:spPr>
        <p:txBody>
          <a:bodyPr wrap="square" lIns="228600" tIns="228600" rIns="228600" bIns="228600">
            <a:spAutoFit/>
          </a:bodyPr>
          <a:lstStyle/>
          <a:p>
            <a:pPr algn="just" eaLnBrk="1" hangingPunct="1"/>
            <a:r>
              <a:rPr lang="en-US" sz="2800" dirty="0">
                <a:latin typeface="Times New Roman" panose="02020603050405020304" pitchFamily="18" charset="0"/>
                <a:cs typeface="Times New Roman" panose="02020603050405020304" pitchFamily="18" charset="0"/>
              </a:rPr>
              <a:t>Emotion recognition is a quickly developing examination in recent years. In contrast to people, machines come up short on the capacities to see and show feelings. In any case, human-computer collaboration can be improved via automated emotions recognition, along these lines decreasing the need of human intervention . four fundamental feelings (Anger, Happy, Fear and Neutral) are analyzed from emotional speech signals. Signal processing techniques are used for getting the production features from these signals. Emotional displays pass on extensive data about the psychological condition of a person. This has opened up another exploration field called automatic emotion recognition, having fundamental objectives to understand and retrieve desired emotions.</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2243" name="Text Box 195"/>
          <p:cNvSpPr txBox="1">
            <a:spLocks noChangeArrowheads="1"/>
          </p:cNvSpPr>
          <p:nvPr/>
        </p:nvSpPr>
        <p:spPr bwMode="auto">
          <a:xfrm>
            <a:off x="20116800" y="4570413"/>
            <a:ext cx="10969625" cy="4801314"/>
          </a:xfrm>
          <a:prstGeom prst="rect">
            <a:avLst/>
          </a:prstGeom>
          <a:solidFill>
            <a:schemeClr val="bg1"/>
          </a:solidFill>
          <a:ln>
            <a:noFill/>
          </a:ln>
          <a:effectLst/>
        </p:spPr>
        <p:txBody>
          <a:bodyPr lIns="182880" tIns="182880" rIns="182880" bIns="182880">
            <a:spAutoFit/>
          </a:bodyPr>
          <a:lstStyle/>
          <a:p>
            <a:pPr algn="just" eaLnBrk="1" hangingPunct="1"/>
            <a:r>
              <a:rPr lang="en-US" sz="3200" dirty="0">
                <a:latin typeface="Times New Roman" panose="02020603050405020304" pitchFamily="18" charset="0"/>
                <a:cs typeface="Times New Roman" panose="02020603050405020304" pitchFamily="18" charset="0"/>
              </a:rPr>
              <a:t>In this study, owing to the intricacy of emotion analysis and modelling, the survey on speech emotion recognition is still emerging. Different academicians are making progress, using various methods to find a complete speech emotion recognition process . We suggested a speech emotion recognition methodology for getting emotions using machine learning algorithms of MLP as classifiers and we have enhanced 85.12% of accuracy as a standard .looking at our past studies using MLP precision of accustomed computation.</a:t>
            </a:r>
          </a:p>
        </p:txBody>
      </p:sp>
      <p:sp>
        <p:nvSpPr>
          <p:cNvPr id="2244" name="Text Box 196"/>
          <p:cNvSpPr txBox="1">
            <a:spLocks noChangeArrowheads="1"/>
          </p:cNvSpPr>
          <p:nvPr/>
        </p:nvSpPr>
        <p:spPr bwMode="auto">
          <a:xfrm>
            <a:off x="32004000" y="4294683"/>
            <a:ext cx="11622824" cy="4062651"/>
          </a:xfrm>
          <a:prstGeom prst="rect">
            <a:avLst/>
          </a:prstGeom>
          <a:solidFill>
            <a:schemeClr val="bg1"/>
          </a:solidFill>
          <a:ln>
            <a:noFill/>
          </a:ln>
          <a:effectLst/>
        </p:spPr>
        <p:txBody>
          <a:bodyPr wrap="square" lIns="182880" tIns="182880" rIns="182880" bIns="182880">
            <a:spAutoFit/>
          </a:bodyPr>
          <a:lstStyle/>
          <a:p>
            <a:pPr algn="just" eaLnBrk="1" hangingPunct="1">
              <a:lnSpc>
                <a:spcPct val="150000"/>
              </a:lnSpc>
            </a:pPr>
            <a:r>
              <a:rPr lang="en-US" sz="3600" dirty="0">
                <a:latin typeface="Times New Roman" panose="02020603050405020304" pitchFamily="18" charset="0"/>
                <a:cs typeface="Times New Roman" panose="02020603050405020304" pitchFamily="18" charset="0"/>
              </a:rPr>
              <a:t>• IEEE 829 - Software Test Documentation</a:t>
            </a:r>
          </a:p>
          <a:p>
            <a:pPr algn="just" eaLnBrk="1" hangingPunct="1">
              <a:lnSpc>
                <a:spcPct val="150000"/>
              </a:lnSpc>
            </a:pPr>
            <a:r>
              <a:rPr lang="en-US" sz="3600" dirty="0">
                <a:latin typeface="Times New Roman" panose="02020603050405020304" pitchFamily="18" charset="0"/>
                <a:cs typeface="Times New Roman" panose="02020603050405020304" pitchFamily="18" charset="0"/>
              </a:rPr>
              <a:t>• IEEE 830 -Software Requirements Specifications</a:t>
            </a:r>
          </a:p>
          <a:p>
            <a:pPr algn="just" eaLnBrk="1" hangingPunct="1">
              <a:lnSpc>
                <a:spcPct val="150000"/>
              </a:lnSpc>
            </a:pPr>
            <a:r>
              <a:rPr lang="en-US" sz="3600" dirty="0">
                <a:latin typeface="Times New Roman" panose="02020603050405020304" pitchFamily="18" charset="0"/>
                <a:cs typeface="Times New Roman" panose="02020603050405020304" pitchFamily="18" charset="0"/>
              </a:rPr>
              <a:t>• IEEE1012- Software verification and validation</a:t>
            </a:r>
          </a:p>
          <a:p>
            <a:pPr algn="just" eaLnBrk="1" hangingPunct="1">
              <a:lnSpc>
                <a:spcPct val="150000"/>
              </a:lnSpc>
            </a:pPr>
            <a:r>
              <a:rPr lang="en-US" sz="3600" dirty="0">
                <a:latin typeface="Times New Roman" panose="02020603050405020304" pitchFamily="18" charset="0"/>
                <a:cs typeface="Times New Roman" panose="02020603050405020304" pitchFamily="18" charset="0"/>
              </a:rPr>
              <a:t>• IEEE 1016 - Software design description</a:t>
            </a:r>
            <a:endParaRPr lang="en-US" sz="3600" dirty="0">
              <a:solidFill>
                <a:prstClr val="black"/>
              </a:solidFill>
              <a:latin typeface="Times New Roman" panose="02020603050405020304" pitchFamily="18" charset="0"/>
              <a:cs typeface="Times New Roman" panose="02020603050405020304" pitchFamily="18" charset="0"/>
            </a:endParaRPr>
          </a:p>
          <a:p>
            <a:pPr eaLnBrk="1" hangingPunct="1"/>
            <a:endParaRPr lang="en-US" dirty="0">
              <a:solidFill>
                <a:prstClr val="black"/>
              </a:solidFill>
              <a:latin typeface="Calibri" pitchFamily="34" charset="0"/>
            </a:endParaRPr>
          </a:p>
        </p:txBody>
      </p:sp>
      <p:sp>
        <p:nvSpPr>
          <p:cNvPr id="2245" name="Text Box 197"/>
          <p:cNvSpPr txBox="1">
            <a:spLocks noChangeArrowheads="1"/>
          </p:cNvSpPr>
          <p:nvPr/>
        </p:nvSpPr>
        <p:spPr bwMode="auto">
          <a:xfrm>
            <a:off x="8039305" y="13873877"/>
            <a:ext cx="10969625" cy="7571303"/>
          </a:xfrm>
          <a:prstGeom prst="rect">
            <a:avLst/>
          </a:prstGeom>
          <a:solidFill>
            <a:schemeClr val="bg1"/>
          </a:solidFill>
          <a:ln>
            <a:noFill/>
          </a:ln>
          <a:effectLst/>
        </p:spPr>
        <p:txBody>
          <a:bodyPr lIns="182880" tIns="182880" rIns="182880" bIns="182880">
            <a:spAutoFit/>
          </a:bodyPr>
          <a:lstStyle/>
          <a:p>
            <a:pPr algn="just" eaLnBrk="1" hangingPunct="1"/>
            <a:r>
              <a:rPr lang="en-US" sz="3600" b="1" dirty="0">
                <a:latin typeface="Times New Roman" panose="02020603050405020304" pitchFamily="18" charset="0"/>
                <a:cs typeface="Times New Roman" panose="02020603050405020304" pitchFamily="18" charset="0"/>
              </a:rPr>
              <a:t>Multi-layer Perceptron:</a:t>
            </a:r>
            <a:r>
              <a:rPr lang="en-US" sz="3600" dirty="0">
                <a:latin typeface="Times New Roman" panose="02020603050405020304" pitchFamily="18" charset="0"/>
                <a:cs typeface="Times New Roman" panose="02020603050405020304" pitchFamily="18" charset="0"/>
              </a:rPr>
              <a:t>  A novel multi-layer perceptron (MLP)-based speech recognition method is proposed in this study. The MLP consists of three or more layers (an input and an output layer with one or more hidden layers) of nonlinearly-activating nodes.Multilayer perceptron are often applied to supervised learning problems. They train on a set of input-output pairs and learn to model the correlation (or dependencies) between those inputs and outputs. The Network being real values. If you have categorical data, such as attribute with the values “male” and “female”, emotion attributes 2 such as “happy”, “sad”, “angry” etc. you can convert it to a realvalued representation which is called a one hot encoding.</a:t>
            </a:r>
          </a:p>
        </p:txBody>
      </p:sp>
      <p:sp>
        <p:nvSpPr>
          <p:cNvPr id="2246" name="Text Box 198"/>
          <p:cNvSpPr txBox="1">
            <a:spLocks noChangeArrowheads="1"/>
          </p:cNvSpPr>
          <p:nvPr/>
        </p:nvSpPr>
        <p:spPr bwMode="auto">
          <a:xfrm>
            <a:off x="32004000" y="14764624"/>
            <a:ext cx="11498261" cy="2954655"/>
          </a:xfrm>
          <a:prstGeom prst="rect">
            <a:avLst/>
          </a:prstGeom>
          <a:solidFill>
            <a:schemeClr val="bg1"/>
          </a:solidFill>
          <a:ln>
            <a:noFill/>
          </a:ln>
          <a:effectLst/>
        </p:spPr>
        <p:txBody>
          <a:bodyPr wrap="square" lIns="182880" tIns="182880" rIns="182880" bIns="182880">
            <a:spAutoFit/>
          </a:bodyPr>
          <a:lstStyle/>
          <a:p>
            <a:pPr algn="just" eaLnBrk="1" hangingPunct="1"/>
            <a:r>
              <a:rPr lang="en-US" sz="2800" dirty="0">
                <a:latin typeface="Times New Roman" panose="02020603050405020304" pitchFamily="18" charset="0"/>
                <a:cs typeface="Times New Roman" panose="02020603050405020304" pitchFamily="18" charset="0"/>
              </a:rPr>
              <a:t>The studies over this idea fetches us the knowledge, that this techniques is yet play the vital position in scientific and technical field. A dumb video can come across only 70% of the mood or situation of the individual enacting similarly from the voice of a person. 75 percent of the mood or condition may be detected. When both audio and video is mixed ninety five percent of the mood of the character may be detected.</a:t>
            </a:r>
          </a:p>
        </p:txBody>
      </p:sp>
      <p:sp>
        <p:nvSpPr>
          <p:cNvPr id="2247" name="Text Box 199"/>
          <p:cNvSpPr txBox="1">
            <a:spLocks noChangeArrowheads="1"/>
          </p:cNvSpPr>
          <p:nvPr/>
        </p:nvSpPr>
        <p:spPr bwMode="auto">
          <a:xfrm>
            <a:off x="8229600" y="4570413"/>
            <a:ext cx="10969625" cy="8125301"/>
          </a:xfrm>
          <a:prstGeom prst="rect">
            <a:avLst/>
          </a:prstGeom>
          <a:solidFill>
            <a:schemeClr val="bg1"/>
          </a:solidFill>
          <a:ln>
            <a:noFill/>
          </a:ln>
          <a:effectLst/>
        </p:spPr>
        <p:txBody>
          <a:bodyPr lIns="182880" tIns="182880" rIns="182880" bIns="182880">
            <a:spAutoFit/>
          </a:bodyPr>
          <a:lstStyle/>
          <a:p>
            <a:pPr algn="just" eaLnBrk="1" hangingPunct="1"/>
            <a:r>
              <a:rPr lang="en-US" sz="3600" dirty="0">
                <a:latin typeface="Times New Roman" panose="02020603050405020304" pitchFamily="18" charset="0"/>
                <a:cs typeface="Times New Roman" panose="02020603050405020304" pitchFamily="18" charset="0"/>
              </a:rPr>
              <a:t>Emotions play a significant part in human existence. It very well may be recognized from the speech uttered by the person, it is a medium of expression of one’s point of view or sentiments to other people.This cycle could be accumulated alongside video that is, the face recognition by utilizing its own API’s converged with voice and can be created as a software application in future specialized industry, thus that it will portray the state of the individual with whom we are collaborating with.It will be more and more useful for person abroad with their relatives and parents in their hometown.Speech emotion processing and recognition system was generally composed of three parts, which were speech signal acquisition, feature extraction, and emotion recognition.</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66" name="Text Box 240"/>
          <p:cNvSpPr txBox="1">
            <a:spLocks noChangeArrowheads="1"/>
          </p:cNvSpPr>
          <p:nvPr/>
        </p:nvSpPr>
        <p:spPr bwMode="auto">
          <a:xfrm>
            <a:off x="21945600" y="20447997"/>
            <a:ext cx="7243975" cy="70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000" b="1" dirty="0">
                <a:solidFill>
                  <a:schemeClr val="accent1">
                    <a:lumMod val="50000"/>
                  </a:schemeClr>
                </a:solidFill>
                <a:latin typeface="Times New Roman" panose="02020603050405020304" pitchFamily="18" charset="0"/>
                <a:cs typeface="Times New Roman" panose="02020603050405020304" pitchFamily="18" charset="0"/>
              </a:rPr>
              <a:t>Figure-1 : </a:t>
            </a:r>
            <a:r>
              <a:rPr lang="en-US" sz="4000" dirty="0">
                <a:solidFill>
                  <a:schemeClr val="accent1">
                    <a:lumMod val="50000"/>
                  </a:schemeClr>
                </a:solidFill>
                <a:latin typeface="Times New Roman" panose="02020603050405020304" pitchFamily="18" charset="0"/>
                <a:cs typeface="Times New Roman" panose="02020603050405020304" pitchFamily="18" charset="0"/>
              </a:rPr>
              <a:t>Architecture Diagram</a:t>
            </a:r>
          </a:p>
        </p:txBody>
      </p:sp>
      <p:sp>
        <p:nvSpPr>
          <p:cNvPr id="67" name="Text Box 241"/>
          <p:cNvSpPr txBox="1">
            <a:spLocks noChangeArrowheads="1"/>
          </p:cNvSpPr>
          <p:nvPr/>
        </p:nvSpPr>
        <p:spPr bwMode="auto">
          <a:xfrm>
            <a:off x="20116800" y="9982200"/>
            <a:ext cx="233385" cy="392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2000" dirty="0">
                <a:solidFill>
                  <a:schemeClr val="accent1">
                    <a:lumMod val="50000"/>
                  </a:schemeClr>
                </a:solidFill>
                <a:latin typeface="Calibri" pitchFamily="34" charset="0"/>
              </a:rPr>
              <a:t>.</a:t>
            </a:r>
          </a:p>
        </p:txBody>
      </p:sp>
      <p:pic>
        <p:nvPicPr>
          <p:cNvPr id="30" name="image1.jpeg">
            <a:extLst>
              <a:ext uri="{FF2B5EF4-FFF2-40B4-BE49-F238E27FC236}">
                <a16:creationId xmlns:a16="http://schemas.microsoft.com/office/drawing/2014/main" id="{CF9C150D-A562-4D95-8D95-ECA9A6CA5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638" y="698463"/>
            <a:ext cx="3886200" cy="1769052"/>
          </a:xfrm>
          <a:prstGeom prst="rect">
            <a:avLst/>
          </a:prstGeom>
        </p:spPr>
      </p:pic>
      <p:pic>
        <p:nvPicPr>
          <p:cNvPr id="3" name="Picture 2">
            <a:extLst>
              <a:ext uri="{FF2B5EF4-FFF2-40B4-BE49-F238E27FC236}">
                <a16:creationId xmlns:a16="http://schemas.microsoft.com/office/drawing/2014/main" id="{7ABE9F05-70AA-4936-A8CF-6236D912B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98987" y="9794032"/>
            <a:ext cx="10787437" cy="10398968"/>
          </a:xfrm>
          <a:prstGeom prst="rect">
            <a:avLst/>
          </a:prstGeom>
        </p:spPr>
      </p:pic>
      <p:pic>
        <p:nvPicPr>
          <p:cNvPr id="28" name="Picture 2" descr="Block Diagram of Emotion recognition through speech . Step 8: If... |  Download Scientific Diagram">
            <a:extLst>
              <a:ext uri="{FF2B5EF4-FFF2-40B4-BE49-F238E27FC236}">
                <a16:creationId xmlns:a16="http://schemas.microsoft.com/office/drawing/2014/main" id="{B9A519C3-C814-4BB3-A472-D030F16E0D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0" y="8633063"/>
            <a:ext cx="4226899" cy="402130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627A42CB-DA78-4C72-9F9C-8F5D489D85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572592" y="8633063"/>
            <a:ext cx="7054232" cy="4021305"/>
          </a:xfrm>
          <a:prstGeom prst="rect">
            <a:avLst/>
          </a:prstGeom>
        </p:spPr>
      </p:pic>
      <p:sp>
        <p:nvSpPr>
          <p:cNvPr id="31" name="TextBox 30">
            <a:extLst>
              <a:ext uri="{FF2B5EF4-FFF2-40B4-BE49-F238E27FC236}">
                <a16:creationId xmlns:a16="http://schemas.microsoft.com/office/drawing/2014/main" id="{E8AC1CBC-7DDF-4928-90B4-B9AE3D2DAF39}"/>
              </a:ext>
            </a:extLst>
          </p:cNvPr>
          <p:cNvSpPr txBox="1"/>
          <p:nvPr/>
        </p:nvSpPr>
        <p:spPr>
          <a:xfrm>
            <a:off x="32106129" y="18478143"/>
            <a:ext cx="29611320" cy="2062103"/>
          </a:xfrm>
          <a:prstGeom prst="rect">
            <a:avLst/>
          </a:prstGeom>
          <a:noFill/>
        </p:spPr>
        <p:txBody>
          <a:bodyPr wrap="square">
            <a:spAutoFit/>
          </a:bodyPr>
          <a:lstStyle/>
          <a:p>
            <a:pPr>
              <a:spcAft>
                <a:spcPct val="50000"/>
              </a:spcAft>
              <a:buFontTx/>
              <a:buAutoNum type="arabicPeriod"/>
            </a:pPr>
            <a:r>
              <a:rPr lang="en-US" sz="3200" dirty="0">
                <a:latin typeface="Times New Roman" panose="02020603050405020304" pitchFamily="18" charset="0"/>
                <a:cs typeface="Times New Roman" panose="02020603050405020304" pitchFamily="18" charset="0"/>
              </a:rPr>
              <a:t>Mrs.Femi.D,Asst Professor,CSE</a:t>
            </a:r>
          </a:p>
          <a:p>
            <a:pPr>
              <a:spcAft>
                <a:spcPct val="50000"/>
              </a:spcAft>
              <a:buFontTx/>
              <a:buAutoNum type="arabicPeriod"/>
            </a:pPr>
            <a:r>
              <a:rPr lang="en-US" sz="3200" dirty="0">
                <a:latin typeface="Times New Roman" panose="02020603050405020304" pitchFamily="18" charset="0"/>
                <a:cs typeface="Times New Roman" panose="02020603050405020304" pitchFamily="18" charset="0"/>
              </a:rPr>
              <a:t>Contact No:+91 89395 20500</a:t>
            </a:r>
          </a:p>
          <a:p>
            <a:pPr>
              <a:spcAft>
                <a:spcPct val="50000"/>
              </a:spcAft>
              <a:buFontTx/>
              <a:buAutoNum type="arabicPeriod"/>
            </a:pPr>
            <a:r>
              <a:rPr lang="en-US" sz="3200" dirty="0">
                <a:latin typeface="Times New Roman" panose="02020603050405020304" pitchFamily="18" charset="0"/>
                <a:cs typeface="Times New Roman" panose="02020603050405020304" pitchFamily="18" charset="0"/>
              </a:rPr>
              <a:t>femid@veltech.edu.in</a:t>
            </a:r>
          </a:p>
        </p:txBody>
      </p:sp>
    </p:spTree>
  </p:cSld>
  <p:clrMapOvr>
    <a:masterClrMapping/>
  </p:clrMapOvr>
</p:sld>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1786</TotalTime>
  <Words>723</Words>
  <Application>Microsoft Office PowerPoint</Application>
  <PresentationFormat>Custom</PresentationFormat>
  <Paragraphs>38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Verdana</vt:lpstr>
      <vt:lpstr>Default Design</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24x48</dc:title>
  <dc:creator>Ashok Vijay</dc:creator>
  <dc:description>To order poster prints visit us at www.genigraphics.com</dc:description>
  <cp:lastModifiedBy>SAHITH REDDY</cp:lastModifiedBy>
  <cp:revision>58</cp:revision>
  <dcterms:created xsi:type="dcterms:W3CDTF">2008-05-03T03:01:56Z</dcterms:created>
  <dcterms:modified xsi:type="dcterms:W3CDTF">2022-06-07T08:44:29Z</dcterms:modified>
</cp:coreProperties>
</file>